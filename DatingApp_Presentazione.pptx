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7315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</a:rPr>
              <a:t>DatingApp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5A623"/>
                </a:solidFill>
              </a:rPr>
              <a:t>Progetto di Esame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0D0E8"/>
                </a:solidFill>
              </a:rPr>
              <a:t>Piattaforma web per la creazione di connessioni tra persone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4434840"/>
            <a:ext cx="640080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AACC"/>
                </a:solidFill>
              </a:rPr>
              <a:t>Frontend: Angular  •  Backend: ASP.NET Core  •  DB: SQL Server  •  Real-time: SignalR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Indice della Presentazione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365760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66928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411480" cy="8686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347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Panoramica del Progetto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E8"/>
                </a:solidFill>
              </a:rPr>
              <a:t>Cosa fa l'app e come è strutturata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0280"/>
            <a:ext cx="566928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411480" cy="8686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350008"/>
            <a:ext cx="347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Registrazione e Accesso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E8"/>
                </a:solidFill>
              </a:rPr>
              <a:t>Come un utente entra nell'app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91839"/>
            <a:ext cx="566928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91839"/>
            <a:ext cx="411480" cy="8686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401568"/>
            <a:ext cx="347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375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Profilo Utente e Foto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03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E8"/>
                </a:solidFill>
              </a:rPr>
              <a:t>Gestione del profilo personale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343400"/>
            <a:ext cx="566928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343400"/>
            <a:ext cx="411480" cy="8686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453128"/>
            <a:ext cx="347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Esplorazione dei Membri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E8"/>
                </a:solidFill>
              </a:rPr>
              <a:t>Ricerca e filtri avanzati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394959"/>
            <a:ext cx="566928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5394959"/>
            <a:ext cx="411480" cy="8686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504688"/>
            <a:ext cx="347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4406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Sistema dei Like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806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E8"/>
                </a:solidFill>
              </a:rPr>
              <a:t>Come funziona il match tra utenti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188720"/>
            <a:ext cx="566928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1188720"/>
            <a:ext cx="411480" cy="8686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1298448"/>
            <a:ext cx="347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Messaggistica in Tempo Reale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E8"/>
                </a:solidFill>
              </a:rPr>
              <a:t>Chat con SignalR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2240280"/>
            <a:ext cx="566928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2240280"/>
            <a:ext cx="411480" cy="8686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2350008"/>
            <a:ext cx="347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Notifiche di Presenza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E8"/>
                </a:solidFill>
              </a:rPr>
              <a:t>Online/offline in diretta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3291839"/>
            <a:ext cx="566928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3291839"/>
            <a:ext cx="411480" cy="8686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3401568"/>
            <a:ext cx="347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33375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Pannello di Amministrazione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3703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E8"/>
                </a:solidFill>
              </a:rPr>
              <a:t>Ruoli, moderazione foto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343400"/>
            <a:ext cx="566928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0" y="4343400"/>
            <a:ext cx="411480" cy="8686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4453128"/>
            <a:ext cx="347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Sicurezza e Architettura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E8"/>
                </a:solidFill>
              </a:rPr>
              <a:t>JWT, token refresh, clean architecture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5394959"/>
            <a:ext cx="566928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0" y="5394959"/>
            <a:ext cx="411480" cy="8686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5504688"/>
            <a:ext cx="347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3720" y="54406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Stack Tecnologico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03720" y="5806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E8"/>
                </a:solidFill>
              </a:rPr>
              <a:t>Tutte le tecnologie usate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Panoramica del Progetto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457200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D0E8"/>
                </a:solidFill>
              </a:rPr>
              <a:t>DatingApp è una piattaforma web completa che permette agli utenti di creare un profilo, caricare foto, scoprire altri utenti, mettere "Mi Piace" e chattare in tempo reale. L'applicazione è divisa in due parti principali che comunicano tra loro: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94560"/>
            <a:ext cx="539496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5394960" cy="4114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🖥  FRONTEND  (Angular)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Interfaccia grafica che l'utente vede nel browser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Sviluppato con Angular (framework moderno)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Pagine dinamiche senza ricaricare la pagina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Comunicazione in tempo reale con il server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Tema scuro/chiaro personalizzabile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Responsive e paginazione dei risultati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194560"/>
            <a:ext cx="548640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194560"/>
            <a:ext cx="5486400" cy="4114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⚙  BACKEND  (ASP.NET Core)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9748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Cervello dell'applicazione, gira su un server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Gestisce le regole di business e i dati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API REST per ogni funzionalità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Database SQL Server per la persistenza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Cloudinary per lo storage delle foto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SignalR per la comunicazione in tempo reale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Registrazione e Accesso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457200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65760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00" cy="8229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
REGISTRAZIONE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94560"/>
            <a:ext cx="3383280" cy="7772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40279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L'utente compila il modulo:
Nome • Email • Password
Genere • Data di nascita
Città • Paese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154680"/>
            <a:ext cx="3383280" cy="7772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00400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Il sistema crea il profilo
e assegna il ruolo 'Member'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114800"/>
            <a:ext cx="3383280" cy="7772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160520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Viene emesso un token JWT
per identificare l'utente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234440"/>
            <a:ext cx="365760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34440"/>
            <a:ext cx="3657600" cy="82296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261872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
LOGIN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194560"/>
            <a:ext cx="3383280" cy="7772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2240279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L'utente inserisce
email e password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3154680"/>
            <a:ext cx="3383280" cy="7772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200400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Il server verifica
le credenziali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4114800"/>
            <a:ext cx="3383280" cy="7772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4160520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Viene restituito un token
di accesso + refresh token
(valido 7 giorni, in cookie)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234440"/>
            <a:ext cx="365760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234440"/>
            <a:ext cx="3657600" cy="822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261872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
SESSIONE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66760" y="2194560"/>
            <a:ext cx="3383280" cy="7772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2240279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Il token JWT viene
incorporato in ogni richiesta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66760" y="3154680"/>
            <a:ext cx="3383280" cy="7772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3200400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Il refresh token rinnova
automaticamente la sessione
senza dover fare login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4114800"/>
            <a:ext cx="3383280" cy="7772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4160520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Al logout, il token
viene invalidato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Profilo Utente e Gestione Foto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457200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D0E8"/>
                </a:solidFill>
              </a:rPr>
              <a:t>Ogni utente ha un profilo personale che può personalizzare in qualsiasi momento: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5486400" cy="4846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5486400" cy="4114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733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👤  Dati del Profilo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Nome visualizzato (DisplayName)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Descrizione personale (bio)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Città e Paese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Data di nascita (calcolata l'età)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Genere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Data di creazione profilo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Ultima volta attivo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5486400" cy="4846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45920"/>
            <a:ext cx="5486400" cy="4114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733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📷  Gestione Foto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Caricamento foto dal proprio dispositivo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Le foto vengono salvate su Cloudinary
(servizio cloud esterno)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Ogni foto deve essere approvata
dal moderatore prima di essere visibile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Possibilità di impostare la foto
principale del profilo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Possibilità di eliminare le foto
(tranne quella principale)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Le foto non approvate sono visibili
solo al proprietario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Esplorazione dei Membri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457200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D0E8"/>
                </a:solidFill>
              </a:rPr>
              <a:t>Nella sezione 'Esplora' l'utente può sfogliare tutti i profili della piattaforma: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365760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3657600" cy="4114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🔍 Filtri Avanzati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3474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Filtra per genere, fascia d'età, città e paese.
L'app ricorda le preferenze durante la sessione.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91640"/>
            <a:ext cx="365760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691640"/>
            <a:ext cx="3657600" cy="4114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7190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📄 Paginazione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94560"/>
            <a:ext cx="3474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I risultati arrivano a pagine (es. 6 per volta).
Puoi navigare avanti/indietro facilmente.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91640"/>
            <a:ext cx="365760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91640"/>
            <a:ext cx="365760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190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🗂 Ordinamento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94560"/>
            <a:ext cx="3474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Ordina per data di creazione o per
ultima volta che l'utente era attivo.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11430000" cy="2697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03320"/>
            <a:ext cx="11430000" cy="411480"/>
          </a:xfrm>
          <a:prstGeom prst="rect">
            <a:avLst/>
          </a:prstGeom>
          <a:solidFill>
            <a:srgbClr val="4A1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7307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👥  Scheda Profilo — cosa vede l'utente per ogni membro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24528"/>
            <a:ext cx="265176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976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Foto principale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4224528"/>
            <a:ext cx="265176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42976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Nome e età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224528"/>
            <a:ext cx="265176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42976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Città e Paese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4224528"/>
            <a:ext cx="265176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42976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Descrizione bio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818888"/>
            <a:ext cx="265176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8920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Galleria foto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4818888"/>
            <a:ext cx="265176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48920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Pulsante Like 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818888"/>
            <a:ext cx="265176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9" y="48920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Pulsante Messaggio 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4818888"/>
            <a:ext cx="2651760" cy="47548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48920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Indicatore online 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Sistema dei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365760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D0E8"/>
                </a:solidFill>
              </a:rPr>
              <a:t>Il cuore del dating: ogni utente può esprimere interesse per un altro tramite i Like.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3657600" cy="4754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365760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❤  Ho messo Like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Visualizza tutti i profili
a cui hai messo Like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Puoi togliere il Like
in qualsiasi momento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Funziona come un toggle:
se lo metti due volte, lo togli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91640"/>
            <a:ext cx="3657600" cy="4754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691640"/>
            <a:ext cx="3657600" cy="5029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71907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��  Mi hanno messo Like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8600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Vedi chi è interessato
al tuo profilo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Puoi decidere se
ricambiare il Like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Utile per scoprire chi ti
ha notato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91640"/>
            <a:ext cx="3657600" cy="4754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91640"/>
            <a:ext cx="365760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1907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💚  Like Reciproci (Match)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8600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Quando due utenti si
mettono Like a vicenda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Questa lista mostra solo
i 'match' reali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94F37"/>
                </a:solidFill>
              </a:rPr>
              <a:t>▶  </a:t>
            </a:r>
            <a:r>
              <a:rPr sz="1400">
                <a:solidFill>
                  <a:srgbClr val="D0D0E8"/>
                </a:solidFill>
              </a:rPr>
              <a:t>Punto di partenza ideale
per iniziare una chat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Messaggistica in Tempo Reale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502920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D0E8"/>
                </a:solidFill>
              </a:rPr>
              <a:t>L'app integra una chat in tempo reale grazie a SignalR (tecnologia WebSocket). I messaggi arrivano istantaneamente senza dover ricaricare la pagina.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74519"/>
            <a:ext cx="365760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548640" cy="21031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5603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Chat Privata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39"/>
            <a:ext cx="2926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Ogni conversazione è
privata tra due utenti.
Nessun altro può leggerla.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874519"/>
            <a:ext cx="365760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874519"/>
            <a:ext cx="548640" cy="21031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5603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96596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Tempo Reale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377439"/>
            <a:ext cx="2926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I messaggi appaiono
istantaneamente grazie
a WebSocket (SignalR).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874519"/>
            <a:ext cx="365760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874519"/>
            <a:ext cx="548640" cy="21031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5603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196596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Stato Lettura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377439"/>
            <a:ext cx="2926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Ogni messaggio mostra
se è stato letto
dal destinatario.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06240"/>
            <a:ext cx="365760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206240"/>
            <a:ext cx="548640" cy="21031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8920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��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297679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Notifica Push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709159"/>
            <a:ext cx="2926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Se non sei nella chat,
ricevi una notifica toast
in alto a destra.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4206240"/>
            <a:ext cx="365760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4206240"/>
            <a:ext cx="548640" cy="21031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48920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4297679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Cancellazione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709159"/>
            <a:ext cx="2926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Puoi cancellare i tuoi
messaggi. Se entrambi
cancellano, sparisce.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206240"/>
            <a:ext cx="365760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4206240"/>
            <a:ext cx="548640" cy="21031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48920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4297679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Storico Messaggi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4709159"/>
            <a:ext cx="2926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La sezione 'Messaggi'
mostra Inbox, Outbox
e conversazioni.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Notifiche di Presenza Online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457200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D0E8"/>
                </a:solidFill>
              </a:rPr>
              <a:t>L'app sa in tempo reale chi è connesso e chi no. Questo avviene tramite il PresenceHub, un canale sempre aperto tra il browser dell'utente e il server.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74519"/>
            <a:ext cx="2743200" cy="4480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0" y="1920240"/>
            <a:ext cx="914400" cy="8229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938528"/>
            <a:ext cx="914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Utente si connette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2900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0E8"/>
                </a:solidFill>
              </a:rPr>
              <a:t>Quando accedi, il tuo ID viene
registrato in memoria.
Tutti gli altri utenti ricevono
una notifica 'utente online'.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1874519"/>
            <a:ext cx="2743200" cy="4480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24528" y="1920240"/>
            <a:ext cx="914400" cy="8229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4528" y="1938528"/>
            <a:ext cx="914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Indicatore visivo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342900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0E8"/>
                </a:solidFill>
              </a:rPr>
              <a:t>Nelle schede dei membri appare
un bollino verde se l'utente
è online in quel momento.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4496" y="1874519"/>
            <a:ext cx="2743200" cy="4480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68896" y="1920240"/>
            <a:ext cx="914400" cy="8229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68896" y="1938528"/>
            <a:ext cx="914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Notifica messaggi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342900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0E8"/>
                </a:solidFill>
              </a:rPr>
              <a:t>Se ricevi un messaggio
mentre non sei in quella chat,
appare una notifica con foto
e nome del mittente.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98864" y="1874519"/>
            <a:ext cx="2743200" cy="4480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113264" y="1920240"/>
            <a:ext cx="914400" cy="82296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13264" y="1938528"/>
            <a:ext cx="914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Utente si disconnette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6024" y="342900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0E8"/>
                </a:solidFill>
              </a:rPr>
              <a:t>Quando esci (o chiudi il tab),
gli altri utenti ricevono
una notifica 'utente offline'
e il bollino sparisce.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Pannello di Amministrazione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457200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D0E8"/>
                </a:solidFill>
              </a:rPr>
              <a:t>L'app ha tre livelli di ruolo: Member (utente normale), Moderator e Admin. Solo gli utenti con ruolo privilegiato possono accedere al pannello di amministrazione.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365760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365760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56231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👤 Member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94F37"/>
                </a:solidFill>
              </a:rPr>
              <a:t>▶  </a:t>
            </a:r>
            <a:r>
              <a:rPr sz="1300">
                <a:solidFill>
                  <a:srgbClr val="D0D0E8"/>
                </a:solidFill>
              </a:rPr>
              <a:t>Accede a tutte le funzionalità base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94F37"/>
                </a:solidFill>
              </a:rPr>
              <a:t>▶  </a:t>
            </a:r>
            <a:r>
              <a:rPr sz="1300">
                <a:solidFill>
                  <a:srgbClr val="D0D0E8"/>
                </a:solidFill>
              </a:rPr>
              <a:t>Può esplorare, mettere like e chattare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94F37"/>
                </a:solidFill>
              </a:rPr>
              <a:t>▶  </a:t>
            </a:r>
            <a:r>
              <a:rPr sz="1300">
                <a:solidFill>
                  <a:srgbClr val="D0D0E8"/>
                </a:solidFill>
              </a:rPr>
              <a:t>Gestisce il proprio profilo e foto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94F37"/>
                </a:solidFill>
              </a:rPr>
              <a:t>▶  </a:t>
            </a:r>
            <a:r>
              <a:rPr sz="1300">
                <a:solidFill>
                  <a:srgbClr val="D0D0E8"/>
                </a:solidFill>
              </a:rPr>
              <a:t>Non ha accesso al pannello admin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65760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828800"/>
            <a:ext cx="365760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856231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🛡 Moderator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42316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94F37"/>
                </a:solidFill>
              </a:rPr>
              <a:t>▶  </a:t>
            </a:r>
            <a:r>
              <a:rPr sz="1300">
                <a:solidFill>
                  <a:srgbClr val="D0D0E8"/>
                </a:solidFill>
              </a:rPr>
              <a:t>Può accedere alla sezione
gestione foto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94F37"/>
                </a:solidFill>
              </a:rPr>
              <a:t>▶  </a:t>
            </a:r>
            <a:r>
              <a:rPr sz="1300">
                <a:solidFill>
                  <a:srgbClr val="D0D0E8"/>
                </a:solidFill>
              </a:rPr>
              <a:t>Approva le foto caricate
dagli utenti prima che
siano visibili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94F37"/>
                </a:solidFill>
              </a:rPr>
              <a:t>▶  </a:t>
            </a:r>
            <a:r>
              <a:rPr sz="1300">
                <a:solidFill>
                  <a:srgbClr val="D0D0E8"/>
                </a:solidFill>
              </a:rPr>
              <a:t>Può rifiutare foto non
idonee (vengono rimosse
anche da Cloudinary)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365760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65760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856231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👑 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42316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94F37"/>
                </a:solidFill>
              </a:rPr>
              <a:t>▶  </a:t>
            </a:r>
            <a:r>
              <a:rPr sz="1300">
                <a:solidFill>
                  <a:srgbClr val="D0D0E8"/>
                </a:solidFill>
              </a:rPr>
              <a:t>Ha tutti i poteri del Moderator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94F37"/>
                </a:solidFill>
              </a:rPr>
              <a:t>▶  </a:t>
            </a:r>
            <a:r>
              <a:rPr sz="1300">
                <a:solidFill>
                  <a:srgbClr val="D0D0E8"/>
                </a:solidFill>
              </a:rPr>
              <a:t>Vede la lista di tutti gli utenti
e i loro ruoli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94F37"/>
                </a:solidFill>
              </a:rPr>
              <a:t>▶  </a:t>
            </a:r>
            <a:r>
              <a:rPr sz="1300">
                <a:solidFill>
                  <a:srgbClr val="D0D0E8"/>
                </a:solidFill>
              </a:rPr>
              <a:t>Può assegnare o togliere ruoli
(es. promuovere a Moderator)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94F37"/>
                </a:solidFill>
              </a:rPr>
              <a:t>▶  </a:t>
            </a:r>
            <a:r>
              <a:rPr sz="1300">
                <a:solidFill>
                  <a:srgbClr val="D0D0E8"/>
                </a:solidFill>
              </a:rPr>
              <a:t>Controllo totale sull'app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Sicurezza e Architettura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411480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577840" cy="1600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57784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🔑 JWT (Token di Accesso)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E8"/>
                </a:solidFill>
              </a:rPr>
              <a:t>Ogni richiesta al server include un token digitale firmato.
Il server verifica che il token sia autentico prima di rispondere.
Valido per un breve periodo (sicurezza elevata).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34440"/>
            <a:ext cx="5577840" cy="1600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234440"/>
            <a:ext cx="5577840" cy="38404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🍪 Refresh Token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E8"/>
                </a:solidFill>
              </a:rPr>
              <a:t>Salvato in un cookie sicuro (HttpOnly) non accessibile da JavaScript.
Rinnova automaticamente la sessione ogni 7 giorni.
Invalidato al logout per proteggere l'account.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63240"/>
            <a:ext cx="5577840" cy="1600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063240"/>
            <a:ext cx="557784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089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🏗 Clean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2044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E8"/>
                </a:solidFill>
              </a:rPr>
              <a:t>Il codice è separato in 3 livelli: Core (logica), Infrastructure (dati), API (controller).
Ogni livello dipende solo dal livello inferiore, non viceversa.
Facilita la manutenzione e i test del codice.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063240"/>
            <a:ext cx="5577840" cy="1600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063240"/>
            <a:ext cx="5577840" cy="38404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1089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🔒 Password Sicure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2044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E8"/>
                </a:solidFill>
              </a:rPr>
              <a:t>Le password sono gestite da ASP.NET Identity.
Non vengono mai salvate in chiaro nel database.
Viene usato un algoritmo di hashing sicuro (bcrypt).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892040"/>
            <a:ext cx="5577840" cy="1600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892040"/>
            <a:ext cx="557784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93775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🛡 Autorizzazione per Ruoli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4924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E8"/>
                </a:solidFill>
              </a:rPr>
              <a:t>Ogni endpoint dell'API richiede il ruolo corretto.
Un utente normale non può mai accedere alle API admin.
I policy vengono verificati ad ogni richiesta.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892040"/>
            <a:ext cx="5577840" cy="1600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892040"/>
            <a:ext cx="5577840" cy="38404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93775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☁ CORS Configurato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34924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E8"/>
                </a:solidFill>
              </a:rPr>
              <a:t>Solo il frontend autorizzato può chiamare le API.
Richieste da domini non autorizzati vengono bloccate.
Protezione contro attacchi cross-site.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Stack Tecnologico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365760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7432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74320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🅰 Angular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Framework per costruire
interfacce web dinamiche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371600"/>
            <a:ext cx="27432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371600"/>
            <a:ext cx="274320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4173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🎨 Tailwind 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33172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Libreria di stili per un
design moderno e reattivo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7432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74320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173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⚙ ASP.NET Core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33172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Framework .NET per le API
REST del server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371600"/>
            <a:ext cx="27432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1371600"/>
            <a:ext cx="274320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4173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🗄 SQL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33172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Database relazionale per
la persistenza dei dati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86200"/>
            <a:ext cx="27432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886200"/>
            <a:ext cx="2743200" cy="38404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9319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Real-time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343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🔌 SignalR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84632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Comunicazione WebSocket
per chat e notifiche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3886200"/>
            <a:ext cx="27432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0" y="3886200"/>
            <a:ext cx="2743200" cy="38404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0" y="39319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Storage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4343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☁ Cloudinary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84632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Servizio cloud per
lo storage delle foto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886200"/>
            <a:ext cx="27432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3886200"/>
            <a:ext cx="2743200" cy="38404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39319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Sicurezza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343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🔑 JWT + Refresh Token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84632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Sistema di autenticazione
stateless e sicuro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52560" y="3886200"/>
            <a:ext cx="27432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52560" y="3886200"/>
            <a:ext cx="2743200" cy="38404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9319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Pattern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4343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🏗 Clean Architecture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84632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E8"/>
                </a:solidFill>
              </a:rPr>
              <a:t>Separazione del codice in
livelli Core/Infra/API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7315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Grazie per l'attenzione!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108960"/>
            <a:ext cx="548640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33756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2ECC71"/>
                </a:solidFill>
              </a:rPr>
              <a:t>  </a:t>
            </a:r>
            <a:r>
              <a:rPr sz="1600">
                <a:solidFill>
                  <a:srgbClr val="D0D0E8"/>
                </a:solidFill>
              </a:rPr>
              <a:t>✅ Registrazione &amp; Login sicuro con JWT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ECC71"/>
                </a:solidFill>
              </a:rPr>
              <a:t>  </a:t>
            </a:r>
            <a:r>
              <a:rPr sz="1600">
                <a:solidFill>
                  <a:srgbClr val="D0D0E8"/>
                </a:solidFill>
              </a:rPr>
              <a:t>✅ Profilo personalizzabile con gestione foto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ECC71"/>
                </a:solidFill>
              </a:rPr>
              <a:t>  </a:t>
            </a:r>
            <a:r>
              <a:rPr sz="1600">
                <a:solidFill>
                  <a:srgbClr val="D0D0E8"/>
                </a:solidFill>
              </a:rPr>
              <a:t>✅ Ricerca e filtri per esplorare utenti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ECC71"/>
                </a:solidFill>
              </a:rPr>
              <a:t>  </a:t>
            </a:r>
            <a:r>
              <a:rPr sz="1600">
                <a:solidFill>
                  <a:srgbClr val="D0D0E8"/>
                </a:solidFill>
              </a:rPr>
              <a:t>✅ Sistema Like con match reciproci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33756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2ECC71"/>
                </a:solidFill>
              </a:rPr>
              <a:t>  </a:t>
            </a:r>
            <a:r>
              <a:rPr sz="1600">
                <a:solidFill>
                  <a:srgbClr val="D0D0E8"/>
                </a:solidFill>
              </a:rPr>
              <a:t>✅ Chat in tempo reale (SignalR)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ECC71"/>
                </a:solidFill>
              </a:rPr>
              <a:t>  </a:t>
            </a:r>
            <a:r>
              <a:rPr sz="1600">
                <a:solidFill>
                  <a:srgbClr val="D0D0E8"/>
                </a:solidFill>
              </a:rPr>
              <a:t>✅ Indicatore di presenza online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ECC71"/>
                </a:solidFill>
              </a:rPr>
              <a:t>  </a:t>
            </a:r>
            <a:r>
              <a:rPr sz="1600">
                <a:solidFill>
                  <a:srgbClr val="D0D0E8"/>
                </a:solidFill>
              </a:rPr>
              <a:t>✅ Pannello admin con moderazione foto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ECC71"/>
                </a:solidFill>
              </a:rPr>
              <a:t>  </a:t>
            </a:r>
            <a:r>
              <a:rPr sz="1600">
                <a:solidFill>
                  <a:srgbClr val="D0D0E8"/>
                </a:solidFill>
              </a:rPr>
              <a:t>✅ Architettura pulita e scalabile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